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74" r:id="rId6"/>
    <p:sldId id="276" r:id="rId7"/>
    <p:sldId id="275" r:id="rId8"/>
    <p:sldId id="277" r:id="rId9"/>
    <p:sldId id="278" r:id="rId10"/>
    <p:sldId id="292" r:id="rId11"/>
    <p:sldId id="293" r:id="rId12"/>
    <p:sldId id="294" r:id="rId13"/>
    <p:sldId id="295" r:id="rId14"/>
    <p:sldId id="285" r:id="rId15"/>
    <p:sldId id="286" r:id="rId16"/>
    <p:sldId id="287" r:id="rId17"/>
    <p:sldId id="291" r:id="rId18"/>
    <p:sldId id="288" r:id="rId19"/>
    <p:sldId id="289" r:id="rId2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7C3"/>
    <a:srgbClr val="E0792C"/>
    <a:srgbClr val="DCF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7"/>
    <p:restoredTop sz="94693"/>
  </p:normalViewPr>
  <p:slideViewPr>
    <p:cSldViewPr snapToGrid="0">
      <p:cViewPr>
        <p:scale>
          <a:sx n="107" d="100"/>
          <a:sy n="107" d="100"/>
        </p:scale>
        <p:origin x="704" y="10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D16F3-8E6E-C543-9696-40AC21ACA4A4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AB8E5-A7A9-1940-A6B7-9D15FC9828E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35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8579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2091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FACE-88B4-2840-C99D-6D858E3D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B4F66-A91B-3C39-170A-3C0D3E801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B8FA3-5586-CF21-FFF5-70BAC111D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4CEC8-1BDA-C086-2A1C-205137603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6790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E9C3-D1C1-3FD8-E424-E82D43DA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133DA-BCC9-7947-261D-D0864CEF0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11775-3F7D-250D-CF37-A05E34546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F4D67-C635-A800-1FC1-3D53EE3BF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0022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60A1-2584-44AA-4848-DFA2612B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93D46-33C3-B0E9-6E06-73D197B3D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764F-891E-0E8A-F4AD-78ACF9D99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5DA9D-EFC5-877C-8204-CCCDA4D5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6316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C29E-1F6A-9982-635A-DB0080AB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E1D2-E224-086D-FB48-D53A97475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4B350-0084-0B0B-734F-EF1715F5B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6B5A7-7B70-5720-0B15-12AA5202E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2978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F6E2-9DCC-D385-4DC1-D9B310A6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BC325-597D-82A9-597A-4ED6D4D4D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E46E5-F5AC-2354-BEC8-F4D4B7A8F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1C68D-FE65-7F06-1B93-3751A1022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2281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1E6F-E1E9-C7C3-72CD-B0D7F279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864-1E8B-B10D-21C0-E4C152C6B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A0BDB-7ABA-26DB-E14E-F51627C7E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CB201-7EF0-B9D7-E5F8-E7B686060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2896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8B69-1B35-D143-552E-D99597D2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6154D-D277-1B90-68D8-436F6FD9E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CD5D2-38A6-11BE-8DE8-7AAA6FCAC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F5ED1-6E97-8AA6-78E1-5FDEBD7D9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3280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2FA9-F94D-B67B-4CAB-3543E8B8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28CCF-2DF4-D244-890B-1653F3C6B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436E-04C3-10EA-287D-7A68FAE22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CCF14-F655-EB83-8E6B-62442D1D0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6896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E4A2-8291-1D5D-E7D8-678AB686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BD5F5-EC74-66B2-1300-1265FE1E5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13398-A06C-E68A-8610-668FA5588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0B9BF-6347-2865-E806-41F86353B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0846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31FC-67FA-EDC8-03BB-741B75D2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407ED-4063-2BEB-366C-EF244067B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A0B1D-09D4-9AF0-FC71-F8B3A46B6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7728-FBCD-F53B-CFCF-9EDFF00ED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710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66E95-E430-CFB5-EB20-8B591EC9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A7E6B-CB45-EC88-6B24-CF5E91204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84408-6C23-4F78-410F-3A59BD733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734D4-27B9-9C63-2531-B209CE9FA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6065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9C76-1E32-EC59-F918-8AB5CD45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B42C3-C12B-AE02-A525-8458D89FE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E6EB9-3366-0E6F-5B4A-990B5CA96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4E54A-EA3A-C8E1-7DCF-3E605B331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9101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82BC-8314-1AF1-8BD6-AA8BA0F3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0875E-935C-673E-8471-59682BBE2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010A6-34A7-37BD-23DE-5090696F6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82784-ADC0-1198-B2B4-53F626F18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1693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3E35-7236-32D1-05ED-F7CAB515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263DF-304B-1BE6-0D1C-05E36230C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82E6F-B57D-2208-2C4A-FF6F66845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D70B5-F69D-B58A-3833-979BC0B6E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7091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7CED-A0FC-89AE-86BA-6E9080CF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7060D-9C54-7491-1B96-7A2B79BFF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904BC-CFA8-0FAE-6C87-A975562F2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EE719-7828-2240-F818-2A5E02CC6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9016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F733-66C0-F58C-C1FE-11D9DB11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D26F3-13A8-CC2A-DE48-C912F2B5A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BF2CC-B10F-7A97-E793-0271AEE5D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CD9EB-F72D-4086-9EB8-D76208B05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81124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5588-4AC5-E52F-F1EF-6B2C236C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A28E1-04A5-D827-CBB9-0E1435E6D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CCD1D-7E3E-FA92-79FE-A41187F7E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Ç</a:t>
            </a:r>
            <a:r>
              <a:rPr lang="en-NL"/>
              <a:t>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B0DC-3828-88BF-5B0F-FB9D8E770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AB8E5-A7A9-1940-A6B7-9D15FC9828E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896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46B0-F906-2048-1280-EC07AE31D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B8A7C-318D-1DC5-8754-900F16D92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4AB86-413A-EC10-9504-9D7AC566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204C-783B-608C-B8F7-077C4140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D78B-9113-724B-18D5-70A2D2C4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350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8E21-F27F-11CF-1A7C-4B7817E3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61EA-F7D8-A1D2-F913-08923FF4B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8E393-0739-69FA-C0EC-A9C7B18D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F31CD-11D8-85B4-0DBA-65AAD92B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5501F-2E55-D0DA-FBB4-00D483BA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624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38F3-9195-6291-FD8A-089925C2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28A93-88E4-222E-4EE0-E3E85B61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5829E-0F0F-8385-A166-A02776F2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912E9-AC76-4BAC-38EE-CB399843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3E9F8-3D0C-2E3D-0AFB-0BC36590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477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14E1-AFF1-C11C-1516-5335ABF5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FFC5-2E8E-28F3-29B7-0A2CF32AC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F4F20-6B82-3638-45B4-8D7A3D965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6DF97-8407-F5D2-9010-17C93908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5612E-3B0B-5B40-6291-DC1DE084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D3C11-A76E-F469-5B4F-B5BAF599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02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B905-1DCF-86D9-136C-2E6A03B8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5257F-96AC-5648-7ECA-E9B8EE993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84DA2-B226-3D13-2E41-52A999F9E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FEBF5-9574-0E9F-C1E3-19AC70F56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C4193-5DD3-C6CB-1B1A-FB0A49173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2E629-DB5F-FDFD-3F9F-E0FC7E3D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0BF59-3E58-02FE-2D1C-94576ED6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64341-DE2B-13A4-9E66-7A0B618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657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DF9CB-7CAB-4D62-9756-8466A531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3EFC-CA85-8102-9847-8FC62797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87A41-04D3-5D59-1013-CF480878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954B5-DEAD-5B68-5607-A2359200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3175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98EA4-1964-59FB-D4C3-0027B5C0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8BB81-000A-E5BE-CB02-07D94ABD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9AD37-BA4A-34E0-BDBB-27383ED4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336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F70A-6DF3-AC13-9EFC-5BCE5D89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D94C3-36DA-9F99-FF7A-B0720B98C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25846-3B50-E544-30AF-03432A23E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29D77-6ACA-BC23-8A09-3B4F7D16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AB400-0D13-B599-CE87-3F9B6FEC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52628-D641-3F15-E0F0-00689CED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113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F6A5-45B5-473B-079C-D180F32C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63A04-1142-CF0A-5DAC-441B2E5D1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83DA7-C9F9-6EE4-25D0-8ED22C45D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37D71-AA0F-5BFE-2BA3-F477ADFE4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40DF3-517A-48A3-6B1C-2852EA35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3580E-4FBF-1403-8959-41F6C95B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166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DBF7-1E97-5706-4AB4-2D6BCDF7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FC48E-F4A6-79C3-C289-D455BC902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00CD8-023D-267E-2384-C1944200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6AD15-AEF7-656C-E022-CE985239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06F0B-2DDD-429A-FD34-1276B18F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8754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29910-4489-C58E-A8A4-CD024DC2A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B47CC-F890-3F48-F0FE-4EC88156B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78139-6B5A-F283-90C8-95C32749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13E8D-AD23-39AE-5680-DC5F0A66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4E3B-9054-3F3A-9E05-6D5D4273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835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4543-C35C-93A5-5C06-13D1400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00487-5F17-8BA4-2041-221BA59E3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525B4-6D25-5FE1-B0BB-4603AB1FB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39029-D574-6A46-B0FA-3116368D05BD}" type="datetimeFigureOut">
              <a:rPr lang="en-NL" smtClean="0"/>
              <a:t>20/06/2026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5ED8-A999-8463-50B3-88C20768B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4796-30A5-3B79-9F78-BB0B270A7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5F2AC-A573-4842-9811-BCC6CD1538D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40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D5E2-47C3-A637-28CF-A712C2C0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131" y="744220"/>
            <a:ext cx="9144000" cy="2387600"/>
          </a:xfrm>
          <a:solidFill>
            <a:srgbClr val="DCF3FE">
              <a:alpha val="45000"/>
            </a:srgbClr>
          </a:solidFill>
        </p:spPr>
        <p:txBody>
          <a:bodyPr>
            <a:normAutofit fontScale="90000"/>
          </a:bodyPr>
          <a:lstStyle/>
          <a:p>
            <a:pPr algn="l"/>
            <a:r>
              <a:rPr lang="en-GB">
                <a:solidFill>
                  <a:srgbClr val="0287C3"/>
                </a:solidFill>
              </a:rPr>
              <a:t>Implementing Multi-Party Computation from Quantum Oblivious Transfers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0F529-002B-A073-04FF-402F8D371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131" y="3385134"/>
            <a:ext cx="9144000" cy="1655762"/>
          </a:xfrm>
        </p:spPr>
        <p:txBody>
          <a:bodyPr/>
          <a:lstStyle/>
          <a:p>
            <a:pPr algn="l"/>
            <a:r>
              <a:rPr lang="en-NL" sz="3200" b="1"/>
              <a:t>Dave van Wijk</a:t>
            </a:r>
          </a:p>
          <a:p>
            <a:pPr algn="l"/>
            <a:r>
              <a:rPr lang="en-NL"/>
              <a:t>Supervised by: </a:t>
            </a:r>
            <a:r>
              <a:rPr lang="en-GB"/>
              <a:t>Dr. Garazi Muguruza Lasa, Prof. dr. Paola Grosso</a:t>
            </a:r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34D88-9AFC-D157-0FA3-D48C74AFE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7" y="5934440"/>
            <a:ext cx="5329670" cy="768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1DC0A-CF94-99EB-4482-1D42261FC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699" y="5934440"/>
            <a:ext cx="1617089" cy="81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1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BDF1-0A90-2A52-A7B4-B6EA5FBB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83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Multiparty Computation (MPC)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A22B96B-C237-2515-8711-4F195CD65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4" y="2572284"/>
            <a:ext cx="5088038" cy="3877676"/>
          </a:xfrm>
        </p:spPr>
        <p:txBody>
          <a:bodyPr/>
          <a:lstStyle/>
          <a:p>
            <a:r>
              <a:rPr lang="en-GB"/>
              <a:t>No additional data known beyond what can be derived from the result</a:t>
            </a:r>
            <a:endParaRPr lang="en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8CB2E-A9C7-3C60-5EAE-2EE829EB60FB}"/>
              </a:ext>
            </a:extLst>
          </p:cNvPr>
          <p:cNvSpPr txBox="1"/>
          <p:nvPr/>
        </p:nvSpPr>
        <p:spPr>
          <a:xfrm>
            <a:off x="525683" y="1336034"/>
            <a:ext cx="6821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/>
              <a:t>Carrying out a joint computation of a function among multiple parties in a secure manner.</a:t>
            </a:r>
            <a:endParaRPr lang="en-NL" sz="2400" i="1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963E14C-1D27-B87C-EB4C-E63233086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048" y="490155"/>
            <a:ext cx="6940952" cy="628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0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9030-9FF8-361B-FDC8-4DF2B1AF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46EF-2BB9-DE95-8323-5F9A8C91B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Oblivious Transfer (OT)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1D36C6-29C7-0BF8-07AD-01B7FAF17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2" y="2754517"/>
            <a:ext cx="5570317" cy="3877676"/>
          </a:xfrm>
        </p:spPr>
        <p:txBody>
          <a:bodyPr/>
          <a:lstStyle/>
          <a:p>
            <a:r>
              <a:rPr lang="en-GB"/>
              <a:t>Key building block for MPC protocols</a:t>
            </a:r>
          </a:p>
          <a:p>
            <a:r>
              <a:rPr lang="en-GB"/>
              <a:t>Requires PKI</a:t>
            </a:r>
          </a:p>
          <a:p>
            <a:pPr lvl="1"/>
            <a:r>
              <a:rPr lang="en-GB"/>
              <a:t>Relies on computational hardness of Asymmetric encryption</a:t>
            </a:r>
            <a:endParaRPr lang="en-NL"/>
          </a:p>
          <a:p>
            <a:r>
              <a:rPr lang="en-NL"/>
              <a:t>Different variants:</a:t>
            </a:r>
          </a:p>
          <a:p>
            <a:pPr lvl="1"/>
            <a:r>
              <a:rPr lang="en-NL"/>
              <a:t>Bit, 1-2, 1-N</a:t>
            </a:r>
          </a:p>
          <a:p>
            <a:pPr lvl="1"/>
            <a:r>
              <a:rPr lang="en-NL"/>
              <a:t>Rabin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7D56F1-BF98-40DF-233B-AAF7F882FE1A}"/>
              </a:ext>
            </a:extLst>
          </p:cNvPr>
          <p:cNvSpPr txBox="1"/>
          <p:nvPr/>
        </p:nvSpPr>
        <p:spPr>
          <a:xfrm>
            <a:off x="525683" y="1318104"/>
            <a:ext cx="6254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i="1"/>
              <a:t>A sender transfers multiple pieces of information, but remains oblivious as to what has been transferred</a:t>
            </a:r>
            <a:endParaRPr lang="en-NL" sz="3200" i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178E0-D482-08BB-3685-F186CE977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93" y="2055860"/>
            <a:ext cx="5583212" cy="480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6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4204-ED86-D93B-52FB-6246E58F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8C5797-0979-E89B-8CBC-8AE654970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93" y="2055860"/>
            <a:ext cx="5583212" cy="48021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239D4-77F9-97F8-5E8A-357A49336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Oblivious Transfer (OT)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4FF49CF-1C69-9405-148C-1576970E9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2" y="2754517"/>
            <a:ext cx="5583211" cy="3877676"/>
          </a:xfrm>
        </p:spPr>
        <p:txBody>
          <a:bodyPr/>
          <a:lstStyle/>
          <a:p>
            <a:r>
              <a:rPr lang="en-GB"/>
              <a:t>Key building block for MPC protocols</a:t>
            </a:r>
          </a:p>
          <a:p>
            <a:r>
              <a:rPr lang="en-GB"/>
              <a:t>Requires PKI</a:t>
            </a:r>
          </a:p>
          <a:p>
            <a:pPr lvl="1"/>
            <a:r>
              <a:rPr lang="en-GB"/>
              <a:t>Relies on computational hardness of Asymmetric encryption</a:t>
            </a:r>
          </a:p>
          <a:p>
            <a:r>
              <a:rPr lang="en-NL"/>
              <a:t>Different variants:</a:t>
            </a:r>
          </a:p>
          <a:p>
            <a:pPr lvl="1"/>
            <a:r>
              <a:rPr lang="en-NL"/>
              <a:t>Bit, 1-2, 1-N</a:t>
            </a:r>
          </a:p>
          <a:p>
            <a:pPr lvl="1"/>
            <a:r>
              <a:rPr lang="en-NL"/>
              <a:t>Rabin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1EF56F-B74B-E425-5EF2-99B33D99515C}"/>
              </a:ext>
            </a:extLst>
          </p:cNvPr>
          <p:cNvSpPr txBox="1"/>
          <p:nvPr/>
        </p:nvSpPr>
        <p:spPr>
          <a:xfrm>
            <a:off x="525683" y="1318104"/>
            <a:ext cx="6254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i="1"/>
              <a:t>A sender transfers multiple pieces of information, but remains oblivious as to what has been transferred</a:t>
            </a:r>
            <a:endParaRPr lang="en-NL" sz="3200" i="1"/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9E5F1134-C76D-5351-CF27-C887BA607340}"/>
              </a:ext>
            </a:extLst>
          </p:cNvPr>
          <p:cNvSpPr/>
          <p:nvPr/>
        </p:nvSpPr>
        <p:spPr>
          <a:xfrm>
            <a:off x="5699300" y="-1672415"/>
            <a:ext cx="2726725" cy="9226446"/>
          </a:xfrm>
          <a:prstGeom prst="lightningBol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19589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923292-00CC-CA8C-F4EA-0F3CCA4D6694}"/>
              </a:ext>
            </a:extLst>
          </p:cNvPr>
          <p:cNvSpPr/>
          <p:nvPr/>
        </p:nvSpPr>
        <p:spPr>
          <a:xfrm rot="20845540">
            <a:off x="7439941" y="-1193379"/>
            <a:ext cx="5520700" cy="85749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1133E-A9AD-7B19-954B-3FC109A95012}"/>
              </a:ext>
            </a:extLst>
          </p:cNvPr>
          <p:cNvSpPr txBox="1"/>
          <p:nvPr/>
        </p:nvSpPr>
        <p:spPr>
          <a:xfrm>
            <a:off x="6773180" y="686734"/>
            <a:ext cx="4828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3200" b="1">
                <a:solidFill>
                  <a:schemeClr val="accent2">
                    <a:lumMod val="40000"/>
                    <a:lumOff val="60000"/>
                  </a:schemeClr>
                </a:solidFill>
              </a:rPr>
              <a:t>Are you Shor about that?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6AA5A-EC85-7EF7-0DE2-DF55D1A2CC69}"/>
              </a:ext>
            </a:extLst>
          </p:cNvPr>
          <p:cNvSpPr txBox="1"/>
          <p:nvPr/>
        </p:nvSpPr>
        <p:spPr>
          <a:xfrm>
            <a:off x="7017063" y="1598062"/>
            <a:ext cx="46773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400">
                <a:solidFill>
                  <a:schemeClr val="accent2">
                    <a:lumMod val="40000"/>
                    <a:lumOff val="60000"/>
                  </a:schemeClr>
                </a:solidFill>
              </a:rPr>
              <a:t>Several computational hard problems can be broken by Quantum computation.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400">
                <a:solidFill>
                  <a:schemeClr val="accent2">
                    <a:lumMod val="40000"/>
                    <a:lumOff val="60000"/>
                  </a:schemeClr>
                </a:solidFill>
              </a:rPr>
              <a:t>Breaking assymetric encryption -&gt; PKI -&gt; OT -&gt; MPC</a:t>
            </a:r>
          </a:p>
        </p:txBody>
      </p:sp>
    </p:spTree>
    <p:extLst>
      <p:ext uri="{BB962C8B-B14F-4D97-AF65-F5344CB8AC3E}">
        <p14:creationId xmlns:p14="http://schemas.microsoft.com/office/powerpoint/2010/main" val="57309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DD0D-2AA3-DB01-BC6F-7F750498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9D94E4-0A96-7627-002C-88DBCFAE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93" y="2055860"/>
            <a:ext cx="5583212" cy="48021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991B2-7846-D623-B9F5-34734CB7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Oblivious Transfer (OT)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FFCCAB-8573-1CE4-C969-0CB133EA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2" y="2754517"/>
            <a:ext cx="5583211" cy="3877676"/>
          </a:xfrm>
        </p:spPr>
        <p:txBody>
          <a:bodyPr/>
          <a:lstStyle/>
          <a:p>
            <a:r>
              <a:rPr lang="en-GB"/>
              <a:t>Key building block for MPC protocols</a:t>
            </a:r>
          </a:p>
          <a:p>
            <a:r>
              <a:rPr lang="en-GB"/>
              <a:t>Requires PKI</a:t>
            </a:r>
          </a:p>
          <a:p>
            <a:pPr lvl="1"/>
            <a:r>
              <a:rPr lang="en-GB"/>
              <a:t>Relies on computational hardness of Asymmetric encryption</a:t>
            </a:r>
          </a:p>
          <a:p>
            <a:r>
              <a:rPr lang="en-NL"/>
              <a:t>Different variants:</a:t>
            </a:r>
          </a:p>
          <a:p>
            <a:pPr lvl="1"/>
            <a:r>
              <a:rPr lang="en-NL"/>
              <a:t>Bit, 1-2, 1-N</a:t>
            </a:r>
          </a:p>
          <a:p>
            <a:pPr lvl="1"/>
            <a:r>
              <a:rPr lang="en-NL"/>
              <a:t>Rabin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BAE3C-1037-4452-2791-B8338EDB131C}"/>
              </a:ext>
            </a:extLst>
          </p:cNvPr>
          <p:cNvSpPr txBox="1"/>
          <p:nvPr/>
        </p:nvSpPr>
        <p:spPr>
          <a:xfrm>
            <a:off x="525683" y="1318104"/>
            <a:ext cx="62549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i="1"/>
              <a:t>A sender transfers multiple pieces of information, but remains oblivious as to what has been transferred</a:t>
            </a:r>
            <a:endParaRPr lang="en-NL" sz="3200" i="1"/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B179FFCA-39D8-981D-F0AF-A3C45AE5DBDA}"/>
              </a:ext>
            </a:extLst>
          </p:cNvPr>
          <p:cNvSpPr/>
          <p:nvPr/>
        </p:nvSpPr>
        <p:spPr>
          <a:xfrm>
            <a:off x="5699300" y="-1672415"/>
            <a:ext cx="2726725" cy="9226446"/>
          </a:xfrm>
          <a:prstGeom prst="lightningBol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19589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336CA-CEBA-9219-A3FD-D83B6AEFEA30}"/>
              </a:ext>
            </a:extLst>
          </p:cNvPr>
          <p:cNvSpPr/>
          <p:nvPr/>
        </p:nvSpPr>
        <p:spPr>
          <a:xfrm rot="20845540">
            <a:off x="7439941" y="-1193379"/>
            <a:ext cx="5520700" cy="857492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0ACC1-C181-04A1-DDDD-61ADD786D29A}"/>
              </a:ext>
            </a:extLst>
          </p:cNvPr>
          <p:cNvSpPr txBox="1"/>
          <p:nvPr/>
        </p:nvSpPr>
        <p:spPr>
          <a:xfrm>
            <a:off x="6773180" y="686734"/>
            <a:ext cx="4828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3200" b="1">
                <a:solidFill>
                  <a:schemeClr val="accent2">
                    <a:lumMod val="40000"/>
                    <a:lumOff val="60000"/>
                  </a:schemeClr>
                </a:solidFill>
              </a:rPr>
              <a:t>Are you Shor about that?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1EC57-6893-88D2-424D-6C975974D2F4}"/>
              </a:ext>
            </a:extLst>
          </p:cNvPr>
          <p:cNvSpPr txBox="1"/>
          <p:nvPr/>
        </p:nvSpPr>
        <p:spPr>
          <a:xfrm>
            <a:off x="7017063" y="1598062"/>
            <a:ext cx="46773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400">
                <a:solidFill>
                  <a:schemeClr val="accent2">
                    <a:lumMod val="40000"/>
                    <a:lumOff val="60000"/>
                  </a:schemeClr>
                </a:solidFill>
              </a:rPr>
              <a:t>Several computational hard problems can be broken by Quantum computation.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400">
                <a:solidFill>
                  <a:schemeClr val="accent2">
                    <a:lumMod val="40000"/>
                    <a:lumOff val="60000"/>
                  </a:schemeClr>
                </a:solidFill>
              </a:rPr>
              <a:t>Breaking assymetric encryption -&gt; PKI -&gt; OT -&gt; MPC</a:t>
            </a:r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EB35974A-C57F-C07D-9485-12A7DF0B045F}"/>
              </a:ext>
            </a:extLst>
          </p:cNvPr>
          <p:cNvSpPr/>
          <p:nvPr/>
        </p:nvSpPr>
        <p:spPr>
          <a:xfrm>
            <a:off x="2131251" y="3470701"/>
            <a:ext cx="785594" cy="777618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2899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A392-878B-176B-166D-94206190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FFD3-33B7-5A07-6EC9-70D3D283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Quantum Cryptography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D0856EF-6E5D-E9DB-AA9B-5AA7B23C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3" y="2461440"/>
            <a:ext cx="11278390" cy="3877676"/>
          </a:xfrm>
        </p:spPr>
        <p:txBody>
          <a:bodyPr/>
          <a:lstStyle/>
          <a:p>
            <a:r>
              <a:rPr lang="en-GB"/>
              <a:t>Quantum Key Distribution</a:t>
            </a:r>
          </a:p>
          <a:p>
            <a:r>
              <a:rPr lang="en-GB"/>
              <a:t>Two communication techniques:</a:t>
            </a:r>
          </a:p>
          <a:p>
            <a:pPr lvl="1"/>
            <a:r>
              <a:rPr lang="en-GB" b="1"/>
              <a:t>Prepare-and-measure</a:t>
            </a:r>
          </a:p>
          <a:p>
            <a:pPr lvl="2"/>
            <a:r>
              <a:rPr lang="en-GB"/>
              <a:t>Transmission of individual quantum states from the sender to the receiver</a:t>
            </a:r>
          </a:p>
          <a:p>
            <a:pPr lvl="1"/>
            <a:r>
              <a:rPr lang="en-GB" b="1"/>
              <a:t>Entanglement-based</a:t>
            </a:r>
          </a:p>
          <a:p>
            <a:pPr lvl="2"/>
            <a:r>
              <a:rPr lang="en-GB"/>
              <a:t>Measurement outcomes are correlated, even when spatially separated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C94236-9EF5-28FE-E0F4-67BB905B5C38}"/>
              </a:ext>
            </a:extLst>
          </p:cNvPr>
          <p:cNvSpPr txBox="1"/>
          <p:nvPr/>
        </p:nvSpPr>
        <p:spPr>
          <a:xfrm>
            <a:off x="525683" y="1318104"/>
            <a:ext cx="10294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/>
              <a:t>Quantum mechanics makes it is impossible to measure an arbitrary quantum system's state without disturbing it, making eavesdropping detectable.</a:t>
            </a:r>
            <a:endParaRPr lang="en-NL" sz="3200" i="1"/>
          </a:p>
        </p:txBody>
      </p:sp>
    </p:spTree>
    <p:extLst>
      <p:ext uri="{BB962C8B-B14F-4D97-AF65-F5344CB8AC3E}">
        <p14:creationId xmlns:p14="http://schemas.microsoft.com/office/powerpoint/2010/main" val="159724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1A21-B4EF-B725-9F1A-F7A1856A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0A17-A911-47E1-81C0-90A4D4A6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Quantum Cryptography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6F12B4-E010-FFC9-FABF-AFBC1AF77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3" y="2461440"/>
            <a:ext cx="11278390" cy="3877676"/>
          </a:xfrm>
        </p:spPr>
        <p:txBody>
          <a:bodyPr/>
          <a:lstStyle/>
          <a:p>
            <a:r>
              <a:rPr lang="en-GB"/>
              <a:t>Quantum Key Distribution</a:t>
            </a:r>
          </a:p>
          <a:p>
            <a:r>
              <a:rPr lang="en-GB"/>
              <a:t>Two communication techniques:</a:t>
            </a:r>
          </a:p>
          <a:p>
            <a:pPr lvl="1"/>
            <a:r>
              <a:rPr lang="en-GB" b="1">
                <a:solidFill>
                  <a:schemeClr val="accent2"/>
                </a:solidFill>
              </a:rPr>
              <a:t>Prepare-and-measure</a:t>
            </a:r>
          </a:p>
          <a:p>
            <a:pPr lvl="2"/>
            <a:r>
              <a:rPr lang="en-GB">
                <a:solidFill>
                  <a:schemeClr val="accent2"/>
                </a:solidFill>
              </a:rPr>
              <a:t>Transmission of individual quantum states from the sender to the receiver</a:t>
            </a:r>
          </a:p>
          <a:p>
            <a:pPr lvl="1"/>
            <a:r>
              <a:rPr lang="en-GB" b="1"/>
              <a:t>Entanglement-based</a:t>
            </a:r>
          </a:p>
          <a:p>
            <a:pPr lvl="2"/>
            <a:r>
              <a:rPr lang="en-GB"/>
              <a:t>Measurement outcomes are correlated, even when spatially separated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A8246A-74C6-42EF-2023-6E7D4C2EC099}"/>
              </a:ext>
            </a:extLst>
          </p:cNvPr>
          <p:cNvSpPr txBox="1"/>
          <p:nvPr/>
        </p:nvSpPr>
        <p:spPr>
          <a:xfrm>
            <a:off x="525683" y="1318104"/>
            <a:ext cx="10294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/>
              <a:t>Quantum mechanics makes it is impossible to measure an arbitrary quantum system's state without disturbing it, making eavesdropping detectable.</a:t>
            </a:r>
            <a:endParaRPr lang="en-NL" sz="3200" i="1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41B0D7F-7767-BAD8-E7CE-5412CACAE175}"/>
              </a:ext>
            </a:extLst>
          </p:cNvPr>
          <p:cNvSpPr/>
          <p:nvPr/>
        </p:nvSpPr>
        <p:spPr>
          <a:xfrm rot="2230379">
            <a:off x="6966156" y="2627054"/>
            <a:ext cx="1826130" cy="72586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Hanouz et al. </a:t>
            </a:r>
          </a:p>
        </p:txBody>
      </p:sp>
    </p:spTree>
    <p:extLst>
      <p:ext uri="{BB962C8B-B14F-4D97-AF65-F5344CB8AC3E}">
        <p14:creationId xmlns:p14="http://schemas.microsoft.com/office/powerpoint/2010/main" val="155277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9839-80F9-938D-E21C-E9F1FD04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F9BD-2964-B315-BF1A-DF3C99D4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47" y="365836"/>
            <a:ext cx="7682402" cy="1325563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0287C3"/>
                </a:solidFill>
              </a:rPr>
              <a:t>Quantum Cryptography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13C4F41-3947-8484-48FA-3C56CC602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83" y="2461440"/>
            <a:ext cx="11278390" cy="3877676"/>
          </a:xfrm>
        </p:spPr>
        <p:txBody>
          <a:bodyPr/>
          <a:lstStyle/>
          <a:p>
            <a:r>
              <a:rPr lang="en-GB"/>
              <a:t>Quantum Key Distribution</a:t>
            </a:r>
          </a:p>
          <a:p>
            <a:r>
              <a:rPr lang="en-GB"/>
              <a:t>Two communication techniques:</a:t>
            </a:r>
          </a:p>
          <a:p>
            <a:pPr lvl="1"/>
            <a:r>
              <a:rPr lang="en-GB" b="1">
                <a:solidFill>
                  <a:schemeClr val="accent2"/>
                </a:solidFill>
              </a:rPr>
              <a:t>Prepare-and-measure</a:t>
            </a:r>
          </a:p>
          <a:p>
            <a:pPr lvl="2"/>
            <a:r>
              <a:rPr lang="en-GB">
                <a:solidFill>
                  <a:schemeClr val="accent2"/>
                </a:solidFill>
              </a:rPr>
              <a:t>Transmission of individual quantum states from the sender to the receiver</a:t>
            </a:r>
          </a:p>
          <a:p>
            <a:pPr lvl="1"/>
            <a:r>
              <a:rPr lang="en-GB" b="1">
                <a:solidFill>
                  <a:srgbClr val="0287C3"/>
                </a:solidFill>
              </a:rPr>
              <a:t>Entanglement-based</a:t>
            </a:r>
          </a:p>
          <a:p>
            <a:pPr lvl="2"/>
            <a:r>
              <a:rPr lang="en-GB">
                <a:solidFill>
                  <a:srgbClr val="0287C3"/>
                </a:solidFill>
              </a:rPr>
              <a:t>Measurement outcomes are correlated, even when spatially separated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CF228E-8D9C-897D-F6F3-E842F5EC4856}"/>
              </a:ext>
            </a:extLst>
          </p:cNvPr>
          <p:cNvSpPr txBox="1"/>
          <p:nvPr/>
        </p:nvSpPr>
        <p:spPr>
          <a:xfrm>
            <a:off x="525683" y="1318104"/>
            <a:ext cx="10294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/>
              <a:t>Quantum mechanics makes it is impossible to measure an arbitrary quantum system's state without disturbing it, making eavesdropping detectable.</a:t>
            </a:r>
            <a:endParaRPr lang="en-NL" sz="3200" i="1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25DBB71-70D8-1305-A0DB-D68845B3A60D}"/>
              </a:ext>
            </a:extLst>
          </p:cNvPr>
          <p:cNvSpPr/>
          <p:nvPr/>
        </p:nvSpPr>
        <p:spPr>
          <a:xfrm rot="2230379">
            <a:off x="6966156" y="2627054"/>
            <a:ext cx="1826130" cy="72586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Hanouz et al.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DA0DE3A-0340-306C-8DA4-10E04F4B2E13}"/>
              </a:ext>
            </a:extLst>
          </p:cNvPr>
          <p:cNvSpPr/>
          <p:nvPr/>
        </p:nvSpPr>
        <p:spPr>
          <a:xfrm rot="19719669">
            <a:off x="6185697" y="5290260"/>
            <a:ext cx="1826130" cy="636222"/>
          </a:xfrm>
          <a:prstGeom prst="rightArrow">
            <a:avLst/>
          </a:prstGeom>
          <a:solidFill>
            <a:srgbClr val="0287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/>
              <a:t>Us!</a:t>
            </a:r>
          </a:p>
        </p:txBody>
      </p:sp>
    </p:spTree>
    <p:extLst>
      <p:ext uri="{BB962C8B-B14F-4D97-AF65-F5344CB8AC3E}">
        <p14:creationId xmlns:p14="http://schemas.microsoft.com/office/powerpoint/2010/main" val="2109072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F05E2-59DA-75CE-52EE-42702D9E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5D83-8B4B-A158-2CFD-C02B24467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55" y="0"/>
            <a:ext cx="8217390" cy="1325563"/>
          </a:xfrm>
        </p:spPr>
        <p:txBody>
          <a:bodyPr>
            <a:normAutofit/>
          </a:bodyPr>
          <a:lstStyle/>
          <a:p>
            <a:r>
              <a:rPr lang="en-NL" sz="4000">
                <a:solidFill>
                  <a:srgbClr val="0287C3"/>
                </a:solidFill>
              </a:rPr>
              <a:t>Quantum Oblivious Transfer (QOT)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571D6-B25F-CA00-C059-B5203AC47835}"/>
              </a:ext>
            </a:extLst>
          </p:cNvPr>
          <p:cNvSpPr txBox="1"/>
          <p:nvPr/>
        </p:nvSpPr>
        <p:spPr>
          <a:xfrm>
            <a:off x="529055" y="891524"/>
            <a:ext cx="392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Step 1: </a:t>
            </a:r>
            <a:r>
              <a:rPr lang="en-GB" sz="2400" i="1"/>
              <a:t>State Distrubution </a:t>
            </a:r>
            <a:endParaRPr lang="en-NL" sz="3200" i="1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5C492C9-A22C-8ACF-4AA7-935A6E676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4193"/>
          <a:stretch>
            <a:fillRect/>
          </a:stretch>
        </p:blipFill>
        <p:spPr>
          <a:xfrm>
            <a:off x="2225554" y="1850369"/>
            <a:ext cx="7740892" cy="20941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3BEB4A-4BE1-29DB-5443-A76318E22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6" y="4916732"/>
            <a:ext cx="10685107" cy="138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6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D9CF-596B-1A48-970C-044239D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2">
            <a:extLst>
              <a:ext uri="{FF2B5EF4-FFF2-40B4-BE49-F238E27FC236}">
                <a16:creationId xmlns:a16="http://schemas.microsoft.com/office/drawing/2014/main" id="{7E41CA45-14F9-3826-4945-D21D5BC8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973"/>
          <a:stretch>
            <a:fillRect/>
          </a:stretch>
        </p:blipFill>
        <p:spPr>
          <a:xfrm>
            <a:off x="2225554" y="1624026"/>
            <a:ext cx="7740891" cy="2513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31A74C-36C5-6920-CDB6-50745028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55" y="0"/>
            <a:ext cx="8217390" cy="1325563"/>
          </a:xfrm>
        </p:spPr>
        <p:txBody>
          <a:bodyPr>
            <a:normAutofit/>
          </a:bodyPr>
          <a:lstStyle/>
          <a:p>
            <a:r>
              <a:rPr lang="en-NL" sz="4000">
                <a:solidFill>
                  <a:srgbClr val="0287C3"/>
                </a:solidFill>
              </a:rPr>
              <a:t>Quantum Oblivious Transfer (QOT)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544A9A-F99A-0036-9225-7FA7AB7EA6A3}"/>
              </a:ext>
            </a:extLst>
          </p:cNvPr>
          <p:cNvSpPr txBox="1"/>
          <p:nvPr/>
        </p:nvSpPr>
        <p:spPr>
          <a:xfrm>
            <a:off x="529055" y="891524"/>
            <a:ext cx="392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Step 2: </a:t>
            </a:r>
            <a:r>
              <a:rPr lang="en-GB" sz="2400" i="1"/>
              <a:t>Bit commitment</a:t>
            </a:r>
            <a:endParaRPr lang="en-NL" sz="3200" i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806C73-201B-1C32-9702-1DA73A6B2C69}"/>
              </a:ext>
            </a:extLst>
          </p:cNvPr>
          <p:cNvCxnSpPr/>
          <p:nvPr/>
        </p:nvCxnSpPr>
        <p:spPr>
          <a:xfrm>
            <a:off x="3842656" y="4615902"/>
            <a:ext cx="4506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10D2315-A97D-73F4-E521-646CC3079F2D}"/>
              </a:ext>
            </a:extLst>
          </p:cNvPr>
          <p:cNvSpPr txBox="1"/>
          <p:nvPr/>
        </p:nvSpPr>
        <p:spPr>
          <a:xfrm>
            <a:off x="2250622" y="5233974"/>
            <a:ext cx="771582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/>
              <a:t>r</a:t>
            </a:r>
            <a:r>
              <a:rPr lang="en-NL" sz="2800" b="1"/>
              <a:t> </a:t>
            </a:r>
            <a:r>
              <a:rPr lang="en-NL" sz="2800"/>
              <a:t>= Random nonce</a:t>
            </a:r>
          </a:p>
          <a:p>
            <a:pPr algn="ctr"/>
            <a:r>
              <a:rPr lang="en-NL" sz="2800" b="1"/>
              <a:t>t </a:t>
            </a:r>
            <a:r>
              <a:rPr lang="en-NL" sz="2800"/>
              <a:t>= </a:t>
            </a:r>
            <a:r>
              <a:rPr lang="en-NL" sz="2800">
                <a:latin typeface="Aptos Narrow" panose="020B0004020202020204" pitchFamily="34" charset="0"/>
              </a:rPr>
              <a:t>SHA-256</a:t>
            </a:r>
            <a:r>
              <a:rPr lang="en-NL" sz="2800"/>
              <a:t>(b||r)</a:t>
            </a:r>
          </a:p>
          <a:p>
            <a:endParaRPr lang="en-NL" sz="2800"/>
          </a:p>
        </p:txBody>
      </p:sp>
    </p:spTree>
    <p:extLst>
      <p:ext uri="{BB962C8B-B14F-4D97-AF65-F5344CB8AC3E}">
        <p14:creationId xmlns:p14="http://schemas.microsoft.com/office/powerpoint/2010/main" val="190323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00D2-BFF6-5815-1674-0EB2C836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43BF65F-EBD1-54BC-0FB6-FBFB06B9C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737" r="2618"/>
          <a:stretch>
            <a:fillRect/>
          </a:stretch>
        </p:blipFill>
        <p:spPr>
          <a:xfrm>
            <a:off x="2225554" y="1710828"/>
            <a:ext cx="7727169" cy="27249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0EEE19-6292-FBC5-75AE-8BABF8A5A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55" y="0"/>
            <a:ext cx="8217390" cy="1325563"/>
          </a:xfrm>
        </p:spPr>
        <p:txBody>
          <a:bodyPr>
            <a:normAutofit/>
          </a:bodyPr>
          <a:lstStyle/>
          <a:p>
            <a:r>
              <a:rPr lang="en-NL" sz="4000">
                <a:solidFill>
                  <a:srgbClr val="0287C3"/>
                </a:solidFill>
              </a:rPr>
              <a:t>Quantum Oblivious Transfer (QOT)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87C32-A6E6-E381-C093-CD1A3E692B8D}"/>
              </a:ext>
            </a:extLst>
          </p:cNvPr>
          <p:cNvSpPr txBox="1"/>
          <p:nvPr/>
        </p:nvSpPr>
        <p:spPr>
          <a:xfrm>
            <a:off x="529055" y="891524"/>
            <a:ext cx="392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Step 3: </a:t>
            </a:r>
            <a:r>
              <a:rPr lang="en-GB" sz="2400" i="1"/>
              <a:t>Basis Reconciliation</a:t>
            </a:r>
            <a:endParaRPr lang="en-NL" sz="3200" i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3652C0-80A4-181D-042D-4D2E54ECE3F2}"/>
              </a:ext>
            </a:extLst>
          </p:cNvPr>
          <p:cNvCxnSpPr/>
          <p:nvPr/>
        </p:nvCxnSpPr>
        <p:spPr>
          <a:xfrm>
            <a:off x="3842656" y="4615902"/>
            <a:ext cx="4506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462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71D0-306C-0516-0666-E0A54644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E6A33-6FFD-B045-B397-743F0733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87" y="1683202"/>
            <a:ext cx="8232423" cy="22984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A1B235-7979-007F-1790-9728CF40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55" y="0"/>
            <a:ext cx="8217390" cy="1325563"/>
          </a:xfrm>
        </p:spPr>
        <p:txBody>
          <a:bodyPr>
            <a:normAutofit/>
          </a:bodyPr>
          <a:lstStyle/>
          <a:p>
            <a:r>
              <a:rPr lang="en-NL" sz="4000">
                <a:solidFill>
                  <a:srgbClr val="0287C3"/>
                </a:solidFill>
              </a:rPr>
              <a:t>Quantum Oblivious Transfer (QOT)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966F3-FF88-6450-C4CB-10CE9B748C29}"/>
              </a:ext>
            </a:extLst>
          </p:cNvPr>
          <p:cNvSpPr txBox="1"/>
          <p:nvPr/>
        </p:nvSpPr>
        <p:spPr>
          <a:xfrm>
            <a:off x="529055" y="891524"/>
            <a:ext cx="392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Step 4: </a:t>
            </a:r>
            <a:r>
              <a:rPr lang="en-GB" sz="2400" i="1"/>
              <a:t>Error Correction</a:t>
            </a:r>
            <a:endParaRPr lang="en-NL" sz="3200" i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DD4BEA-47FC-DDA3-DE77-C8AF9843572A}"/>
              </a:ext>
            </a:extLst>
          </p:cNvPr>
          <p:cNvCxnSpPr/>
          <p:nvPr/>
        </p:nvCxnSpPr>
        <p:spPr>
          <a:xfrm>
            <a:off x="3842656" y="4615902"/>
            <a:ext cx="4506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6CAF3D-5B13-8699-4FDB-B00E28D01EBC}"/>
              </a:ext>
            </a:extLst>
          </p:cNvPr>
          <p:cNvSpPr txBox="1"/>
          <p:nvPr/>
        </p:nvSpPr>
        <p:spPr>
          <a:xfrm>
            <a:off x="1347741" y="4943965"/>
            <a:ext cx="94965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Reed–Solomon </a:t>
            </a:r>
            <a:r>
              <a:rPr lang="en-GB" sz="2400" i="1"/>
              <a:t>vs</a:t>
            </a:r>
            <a:r>
              <a:rPr lang="en-GB" sz="2400" b="1" i="1"/>
              <a:t> </a:t>
            </a:r>
            <a:br>
              <a:rPr lang="en-GB" sz="2400" b="1" i="1"/>
            </a:br>
            <a:r>
              <a:rPr lang="en-GB" sz="2400" b="1" i="1"/>
              <a:t>low-density parity-check (LDPC) codes </a:t>
            </a:r>
            <a:endParaRPr lang="en-NL" sz="3200" i="1"/>
          </a:p>
        </p:txBody>
      </p:sp>
    </p:spTree>
    <p:extLst>
      <p:ext uri="{BB962C8B-B14F-4D97-AF65-F5344CB8AC3E}">
        <p14:creationId xmlns:p14="http://schemas.microsoft.com/office/powerpoint/2010/main" val="2170487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9AB8-3CA3-CBAB-3059-01CCACF3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4F05E1F-E0E6-D2F9-F392-9E3E7DD2C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4675" y="1964842"/>
            <a:ext cx="7811075" cy="2268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E31DC6-ED5D-D6C1-2E9C-597C977E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55" y="0"/>
            <a:ext cx="8217390" cy="1325563"/>
          </a:xfrm>
        </p:spPr>
        <p:txBody>
          <a:bodyPr>
            <a:normAutofit/>
          </a:bodyPr>
          <a:lstStyle/>
          <a:p>
            <a:r>
              <a:rPr lang="en-NL" sz="4000">
                <a:solidFill>
                  <a:srgbClr val="0287C3"/>
                </a:solidFill>
              </a:rPr>
              <a:t>Quantum Oblivious Transfer (QOT)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48EE53-DDD1-987E-FBF1-51029BF9DFB2}"/>
              </a:ext>
            </a:extLst>
          </p:cNvPr>
          <p:cNvSpPr txBox="1"/>
          <p:nvPr/>
        </p:nvSpPr>
        <p:spPr>
          <a:xfrm>
            <a:off x="529055" y="891524"/>
            <a:ext cx="3922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Step 5: </a:t>
            </a:r>
            <a:r>
              <a:rPr lang="en-GB" sz="2400" i="1"/>
              <a:t>Encryption</a:t>
            </a:r>
            <a:endParaRPr lang="en-NL" sz="3200" i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542752-D9B7-A38E-DAC4-05679D289775}"/>
              </a:ext>
            </a:extLst>
          </p:cNvPr>
          <p:cNvCxnSpPr/>
          <p:nvPr/>
        </p:nvCxnSpPr>
        <p:spPr>
          <a:xfrm>
            <a:off x="3842656" y="4615902"/>
            <a:ext cx="4506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80F9E4-0209-A7E6-E772-4F8453F56C3D}"/>
              </a:ext>
            </a:extLst>
          </p:cNvPr>
          <p:cNvSpPr txBox="1"/>
          <p:nvPr/>
        </p:nvSpPr>
        <p:spPr>
          <a:xfrm>
            <a:off x="3710225" y="5282631"/>
            <a:ext cx="4919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/>
              <a:t> Carter–Wegman </a:t>
            </a:r>
            <a:r>
              <a:rPr lang="en-GB" sz="2400" i="1"/>
              <a:t>vs</a:t>
            </a:r>
            <a:r>
              <a:rPr lang="en-GB" sz="2400" b="1" i="1"/>
              <a:t> Toeplitz hash</a:t>
            </a:r>
            <a:endParaRPr lang="en-NL" sz="3200" i="1"/>
          </a:p>
        </p:txBody>
      </p:sp>
    </p:spTree>
    <p:extLst>
      <p:ext uri="{BB962C8B-B14F-4D97-AF65-F5344CB8AC3E}">
        <p14:creationId xmlns:p14="http://schemas.microsoft.com/office/powerpoint/2010/main" val="4009290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C53B-4930-D962-5175-A1E79682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10650-723E-7EE3-49BD-44C89A603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78" y="1994340"/>
            <a:ext cx="5534467" cy="4153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724031-829F-869C-8D34-0773D2522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09400"/>
            <a:ext cx="5534469" cy="4153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556427-268F-95F0-193D-A75F8CE8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0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QOT Optimal Configuration  – Error correction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429F12-A56A-748A-77FA-65A0E77248E1}"/>
              </a:ext>
            </a:extLst>
          </p:cNvPr>
          <p:cNvSpPr txBox="1"/>
          <p:nvPr/>
        </p:nvSpPr>
        <p:spPr>
          <a:xfrm>
            <a:off x="469411" y="1021680"/>
            <a:ext cx="94238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LDPC Error correction outperforming 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Clear turning point at 0.3-0.4 </a:t>
            </a:r>
            <a:r>
              <a:rPr lang="en-NL" sz="2400" b="1"/>
              <a:t>-&gt;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NL" sz="2400"/>
              <a:t>From literature known that higher scores are posible</a:t>
            </a:r>
            <a:br>
              <a:rPr lang="en-NL" sz="2400"/>
            </a:br>
            <a:endParaRPr lang="en-NL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1E8C-8B0B-336A-07C4-30E5FF98DAEF}"/>
              </a:ext>
            </a:extLst>
          </p:cNvPr>
          <p:cNvSpPr txBox="1"/>
          <p:nvPr/>
        </p:nvSpPr>
        <p:spPr>
          <a:xfrm>
            <a:off x="0" y="6133147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6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5.2: </a:t>
            </a:r>
            <a:r>
              <a:rPr lang="en-NL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between success rates for the current and optimistic scenarios as a function of the leakage rate. </a:t>
            </a:r>
          </a:p>
          <a:p>
            <a:pPr algn="ctr"/>
            <a:r>
              <a:rPr lang="en-NL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For each data point the parameter. Showing RS (left) with λ</a:t>
            </a:r>
            <a:r>
              <a:rPr lang="en-NL" sz="16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OT</a:t>
            </a:r>
            <a:r>
              <a:rPr lang="en-NL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 = 256, and LDPC error correction (right) with λ</a:t>
            </a:r>
            <a:r>
              <a:rPr lang="en-NL" sz="16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OT</a:t>
            </a:r>
            <a:r>
              <a:rPr lang="en-NL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 = 7680</a:t>
            </a:r>
          </a:p>
        </p:txBody>
      </p:sp>
    </p:spTree>
    <p:extLst>
      <p:ext uri="{BB962C8B-B14F-4D97-AF65-F5344CB8AC3E}">
        <p14:creationId xmlns:p14="http://schemas.microsoft.com/office/powerpoint/2010/main" val="3330699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A64D-BFAA-D3CC-61DF-2A39A32C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BBD3EE-D5A5-9975-2079-7409B9F7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52" y="1788890"/>
            <a:ext cx="5750079" cy="4315678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9C8B545-1108-5C51-6063-A65046157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1" y="1721595"/>
            <a:ext cx="5750079" cy="43156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05E13-4171-DB94-E81F-C3511E0A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8698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QOT – Performance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145DD-1E5B-BB38-F2DF-345CDDD3C0CC}"/>
              </a:ext>
            </a:extLst>
          </p:cNvPr>
          <p:cNvSpPr txBox="1"/>
          <p:nvPr/>
        </p:nvSpPr>
        <p:spPr>
          <a:xfrm>
            <a:off x="469411" y="1000715"/>
            <a:ext cx="121950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Carter-Wegman hashing scales better than Toeplitz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Post processing remains insignificant compared to QCommunication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33395-F82C-F3A6-D232-BD9EA436BDE1}"/>
              </a:ext>
            </a:extLst>
          </p:cNvPr>
          <p:cNvSpPr txBox="1"/>
          <p:nvPr/>
        </p:nvSpPr>
        <p:spPr>
          <a:xfrm>
            <a:off x="555163" y="6104568"/>
            <a:ext cx="53405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6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5.4:  </a:t>
            </a:r>
            <a:r>
              <a:rPr lang="en-GB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Measured time taken to hash a random bitstring with a given length for the two different hashes. </a:t>
            </a:r>
            <a:endParaRPr lang="en-NL" sz="16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0593AA-80DA-7FB4-5474-9DDE122F0FC2}"/>
              </a:ext>
            </a:extLst>
          </p:cNvPr>
          <p:cNvSpPr txBox="1"/>
          <p:nvPr/>
        </p:nvSpPr>
        <p:spPr>
          <a:xfrm>
            <a:off x="6644007" y="6118075"/>
            <a:ext cx="50545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6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5.5:  </a:t>
            </a:r>
            <a:r>
              <a:rPr lang="en-GB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Time taken from the start of the protocol until the attempt at decoding the chosen message.</a:t>
            </a:r>
            <a:endParaRPr lang="en-NL" sz="16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462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EFB7-83BF-29A7-D01C-5F90A878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1C48-2A16-08DC-6B12-F3ABEB4B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0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QOT – Performance</a:t>
            </a:r>
            <a:endParaRPr lang="en-NL">
              <a:solidFill>
                <a:srgbClr val="0287C3"/>
              </a:solidFill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7B34ABF-76CE-C001-A415-67BF48880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409" y="2085708"/>
            <a:ext cx="5322462" cy="3994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D877D5-137E-9C89-EC2D-69BE7155B0AC}"/>
              </a:ext>
            </a:extLst>
          </p:cNvPr>
          <p:cNvSpPr txBox="1"/>
          <p:nvPr/>
        </p:nvSpPr>
        <p:spPr>
          <a:xfrm>
            <a:off x="469411" y="974126"/>
            <a:ext cx="121950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Scales linearly for sufficient Leakage Rate,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400"/>
              <a:t>λ</a:t>
            </a:r>
            <a:r>
              <a:rPr lang="en-GB" sz="2400" baseline="-25000"/>
              <a:t>OT</a:t>
            </a:r>
            <a:r>
              <a:rPr lang="en-GB" sz="2400"/>
              <a:t> = 6000 per hour, so 200 EPR pairs per minute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/>
              <a:t>Obliterated by Qline, which performs 1.4 × 10</a:t>
            </a:r>
            <a:r>
              <a:rPr lang="en-GB" sz="2400" baseline="30000"/>
              <a:t>4  </a:t>
            </a:r>
            <a:r>
              <a:rPr lang="en-GB" sz="2400"/>
              <a:t>times better.</a:t>
            </a:r>
            <a:endParaRPr lang="en-NL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C9904-8626-D624-4012-9B571CEB4250}"/>
              </a:ext>
            </a:extLst>
          </p:cNvPr>
          <p:cNvSpPr txBox="1"/>
          <p:nvPr/>
        </p:nvSpPr>
        <p:spPr>
          <a:xfrm>
            <a:off x="713161" y="5973589"/>
            <a:ext cx="4492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8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5.6: </a:t>
            </a:r>
            <a:r>
              <a:rPr lang="en-NL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Our a</a:t>
            </a:r>
            <a:r>
              <a:rPr lang="en-GB" i="1">
                <a:solidFill>
                  <a:schemeClr val="tx1">
                    <a:lumMod val="75000"/>
                    <a:lumOff val="25000"/>
                  </a:schemeClr>
                </a:solidFill>
              </a:rPr>
              <a:t>verage time needed to obtain a successful 1-2 QOT execution.</a:t>
            </a:r>
            <a:endParaRPr lang="en-NL" sz="18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8FDFB-D3BD-2C9A-9E60-A488CC7B140F}"/>
              </a:ext>
            </a:extLst>
          </p:cNvPr>
          <p:cNvSpPr txBox="1"/>
          <p:nvPr/>
        </p:nvSpPr>
        <p:spPr>
          <a:xfrm>
            <a:off x="6001868" y="5973589"/>
            <a:ext cx="5797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8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5.7:  </a:t>
            </a:r>
            <a:r>
              <a:rPr lang="en-GB" i="1">
                <a:solidFill>
                  <a:schemeClr val="tx1">
                    <a:lumMod val="75000"/>
                    <a:lumOff val="25000"/>
                  </a:schemeClr>
                </a:solidFill>
              </a:rPr>
              <a:t>Estimation of the number of qubits and corresponding time to perform one OT on Qline</a:t>
            </a:r>
            <a:endParaRPr lang="en-NL" sz="18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560D53-D5FC-D882-9959-895B201F7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869" y="2716195"/>
            <a:ext cx="5797591" cy="31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64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60EB-9A89-FCF7-FE4A-2E7ECEB8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656E27-F6F3-0B68-4C4E-4D9F2D039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95" y="2062634"/>
            <a:ext cx="5547567" cy="40876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03DAE4-13B1-C027-521F-88D1213635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947" r="8088"/>
          <a:stretch>
            <a:fillRect/>
          </a:stretch>
        </p:blipFill>
        <p:spPr>
          <a:xfrm>
            <a:off x="469411" y="1126324"/>
            <a:ext cx="9342958" cy="936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6F108-CCA4-5968-AEEC-D09E1B4CE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0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QOT – Error Bound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79FFAD-83F4-62C9-0D4C-B519C7ABE06A}"/>
              </a:ext>
            </a:extLst>
          </p:cNvPr>
          <p:cNvSpPr txBox="1"/>
          <p:nvPr/>
        </p:nvSpPr>
        <p:spPr>
          <a:xfrm>
            <a:off x="469411" y="2315357"/>
            <a:ext cx="48602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Difference between </a:t>
            </a:r>
            <a:r>
              <a:rPr lang="en-NL" sz="2400" i="1"/>
              <a:t>real</a:t>
            </a:r>
            <a:r>
              <a:rPr lang="en-NL" sz="2400"/>
              <a:t> and </a:t>
            </a:r>
            <a:br>
              <a:rPr lang="en-NL" sz="2400"/>
            </a:br>
            <a:r>
              <a:rPr lang="en-NL" sz="2400" i="1"/>
              <a:t>ideal</a:t>
            </a:r>
            <a:r>
              <a:rPr lang="en-NL" sz="2400"/>
              <a:t> state of security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L" sz="2400"/>
              <a:t>Calculate minimum </a:t>
            </a:r>
            <a:r>
              <a:rPr lang="el-GR" sz="2400"/>
              <a:t>λ</a:t>
            </a:r>
            <a:r>
              <a:rPr lang="en-GB" sz="2400" baseline="-25000"/>
              <a:t>OT</a:t>
            </a:r>
            <a:r>
              <a:rPr lang="en-GB" sz="2400"/>
              <a:t> for a set </a:t>
            </a:r>
            <a:br>
              <a:rPr lang="en-GB" sz="2400"/>
            </a:br>
            <a:r>
              <a:rPr lang="en-GB" sz="2400"/>
              <a:t>security parameter (</a:t>
            </a:r>
            <a:r>
              <a:rPr lang="el-GR" sz="2400"/>
              <a:t>ϵ</a:t>
            </a:r>
            <a:r>
              <a:rPr lang="en-GB" sz="2400" baseline="-25000"/>
              <a:t>sec</a:t>
            </a:r>
            <a:r>
              <a:rPr lang="en-GB" sz="2400"/>
              <a:t> = 2</a:t>
            </a:r>
            <a:r>
              <a:rPr lang="en-GB" sz="2400" baseline="30000"/>
              <a:t>−22</a:t>
            </a:r>
            <a:r>
              <a:rPr lang="en-GB" sz="2400"/>
              <a:t>) and 3 leakage rates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/>
              <a:t>Minimum </a:t>
            </a:r>
            <a:r>
              <a:rPr lang="el-GR" sz="2400"/>
              <a:t>λ</a:t>
            </a:r>
            <a:r>
              <a:rPr lang="en-GB" sz="2400" baseline="-25000"/>
              <a:t>OT</a:t>
            </a:r>
            <a:r>
              <a:rPr lang="en-GB" sz="2400"/>
              <a:t> of 4 × 10</a:t>
            </a:r>
            <a:r>
              <a:rPr lang="en-GB" sz="2400" baseline="30000"/>
              <a:t>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/>
              <a:t>Comes down to weeks of runtime  for one 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/>
          </a:p>
          <a:p>
            <a:endParaRPr lang="en-NL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A4906-FD54-1D88-2668-98171A575CA6}"/>
              </a:ext>
            </a:extLst>
          </p:cNvPr>
          <p:cNvSpPr txBox="1"/>
          <p:nvPr/>
        </p:nvSpPr>
        <p:spPr>
          <a:xfrm>
            <a:off x="6096000" y="6107783"/>
            <a:ext cx="5190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L" sz="18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Figure 5.8: </a:t>
            </a:r>
            <a:r>
              <a:rPr lang="en-GB" i="1">
                <a:solidFill>
                  <a:schemeClr val="tx1">
                    <a:lumMod val="75000"/>
                    <a:lumOff val="25000"/>
                  </a:schemeClr>
                </a:solidFill>
              </a:rPr>
              <a:t>Minimal </a:t>
            </a:r>
            <a:r>
              <a:rPr lang="el-GR" i="1">
                <a:solidFill>
                  <a:schemeClr val="tx1">
                    <a:lumMod val="75000"/>
                    <a:lumOff val="25000"/>
                  </a:schemeClr>
                </a:solidFill>
              </a:rPr>
              <a:t>λ</a:t>
            </a:r>
            <a:r>
              <a:rPr lang="en-GB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OT</a:t>
            </a:r>
            <a:r>
              <a:rPr lang="en-GB" i="1">
                <a:solidFill>
                  <a:schemeClr val="tx1">
                    <a:lumMod val="75000"/>
                    <a:lumOff val="25000"/>
                  </a:schemeClr>
                </a:solidFill>
              </a:rPr>
              <a:t> as a function of the QBER for different leakage rates </a:t>
            </a:r>
            <a:r>
              <a:rPr lang="el-GR" i="1">
                <a:solidFill>
                  <a:schemeClr val="tx1">
                    <a:lumMod val="75000"/>
                    <a:lumOff val="25000"/>
                  </a:schemeClr>
                </a:solidFill>
              </a:rPr>
              <a:t>λ</a:t>
            </a:r>
            <a:r>
              <a:rPr lang="el-GR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ℓ</a:t>
            </a:r>
            <a:r>
              <a:rPr lang="el-GR" i="1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NL" sz="1800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51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A8DE7-62F5-8E50-98FC-5D1E6408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163C-50E5-8A6B-56B0-1AD0CA6D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188186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QOT – Variants Performance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B9295-B395-325A-C89F-93833EDA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78" y="1363231"/>
            <a:ext cx="10515600" cy="2237926"/>
          </a:xfrm>
        </p:spPr>
        <p:txBody>
          <a:bodyPr/>
          <a:lstStyle/>
          <a:p>
            <a:r>
              <a:rPr lang="en-NL" b="1"/>
              <a:t>Bit/Base OT	</a:t>
            </a:r>
            <a:r>
              <a:rPr lang="en-NL"/>
              <a:t>1 QOT</a:t>
            </a:r>
          </a:p>
          <a:p>
            <a:r>
              <a:rPr lang="en-NL" b="1"/>
              <a:t>1-2 String OT 	</a:t>
            </a:r>
            <a:r>
              <a:rPr lang="en-NL"/>
              <a:t>1 QOT</a:t>
            </a:r>
          </a:p>
          <a:p>
            <a:r>
              <a:rPr lang="en-NL" b="1"/>
              <a:t>1-N String OT	</a:t>
            </a:r>
            <a:r>
              <a:rPr lang="en-NL"/>
              <a:t>Log</a:t>
            </a:r>
            <a:r>
              <a:rPr lang="en-NL" baseline="-25000"/>
              <a:t>2</a:t>
            </a:r>
            <a:r>
              <a:rPr lang="en-NL"/>
              <a:t>(N) calls to QOT, potential for Log(N) </a:t>
            </a:r>
          </a:p>
          <a:p>
            <a:r>
              <a:rPr lang="en-NL" b="1"/>
              <a:t>Rabin OT		</a:t>
            </a:r>
            <a:r>
              <a:rPr lang="en-NL"/>
              <a:t>Set N based on erasure probability</a:t>
            </a:r>
            <a:endParaRPr lang="en-NL" b="1"/>
          </a:p>
        </p:txBody>
      </p:sp>
    </p:spTree>
    <p:extLst>
      <p:ext uri="{BB962C8B-B14F-4D97-AF65-F5344CB8AC3E}">
        <p14:creationId xmlns:p14="http://schemas.microsoft.com/office/powerpoint/2010/main" val="171975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EA-E4AE-CC67-9A9D-4288293C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4991-C89C-E221-24B0-02AC2390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188186"/>
            <a:ext cx="11722589" cy="13255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0287C3"/>
                </a:solidFill>
              </a:rPr>
              <a:t>Main Findings</a:t>
            </a:r>
            <a:endParaRPr lang="en-NL">
              <a:solidFill>
                <a:srgbClr val="0287C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FB531-7FAB-AC4F-53EA-FDA36ADE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11" y="1362311"/>
            <a:ext cx="11253178" cy="53075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i="1"/>
              <a:t>  Succesfully implemented 1-out-of-2 quantum oblivious transfer protocol in an entanglement-based quantum-network simulator</a:t>
            </a:r>
            <a:br>
              <a:rPr lang="en-GB" i="1"/>
            </a:br>
            <a:endParaRPr lang="en-GB" i="1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br>
              <a:rPr lang="en-GB"/>
            </a:br>
            <a:br>
              <a:rPr lang="en-GB"/>
            </a:br>
            <a:br>
              <a:rPr lang="en-GB"/>
            </a:br>
            <a:r>
              <a:rPr lang="en-GB" b="1"/>
              <a:t>To conclude</a:t>
            </a:r>
            <a:r>
              <a:rPr lang="en-GB"/>
              <a:t>,  getting rid of PKI does not justify the time requirements associated with QOT. Outperformed by cOT and Prepare and measure.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07A92-EABE-448D-94B9-375AE7049CFA}"/>
              </a:ext>
            </a:extLst>
          </p:cNvPr>
          <p:cNvSpPr txBox="1"/>
          <p:nvPr/>
        </p:nvSpPr>
        <p:spPr>
          <a:xfrm>
            <a:off x="1242313" y="2549138"/>
            <a:ext cx="94692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LDPC codes outperform RS and Carter–Wegman </a:t>
            </a:r>
            <a:br>
              <a:rPr lang="en-GB" sz="2800"/>
            </a:br>
            <a:r>
              <a:rPr lang="en-GB" sz="2800"/>
              <a:t>outperforms Toeplitz hashing.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Still, for optimistic scenario and </a:t>
            </a:r>
            <a:r>
              <a:rPr lang="el-GR" sz="2800"/>
              <a:t>ϵ</a:t>
            </a:r>
            <a:r>
              <a:rPr lang="en-GB" sz="2800" baseline="-25000"/>
              <a:t>sec</a:t>
            </a:r>
            <a:r>
              <a:rPr lang="en-GB" sz="2800"/>
              <a:t> = 2</a:t>
            </a:r>
            <a:r>
              <a:rPr lang="en-GB" sz="2800" baseline="30000"/>
              <a:t>−22 </a:t>
            </a:r>
            <a:r>
              <a:rPr lang="en-GB" sz="2800"/>
              <a:t>, transfer would </a:t>
            </a:r>
            <a:br>
              <a:rPr lang="en-GB" sz="2800"/>
            </a:br>
            <a:r>
              <a:rPr lang="en-GB" sz="2800"/>
              <a:t>take over a month.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Variants of OT for MPC don’t add much overhead</a:t>
            </a:r>
            <a:endParaRPr lang="en-NL" sz="2800"/>
          </a:p>
        </p:txBody>
      </p:sp>
    </p:spTree>
    <p:extLst>
      <p:ext uri="{BB962C8B-B14F-4D97-AF65-F5344CB8AC3E}">
        <p14:creationId xmlns:p14="http://schemas.microsoft.com/office/powerpoint/2010/main" val="48958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2815</TotalTime>
  <Words>955</Words>
  <Application>Microsoft Macintosh PowerPoint</Application>
  <PresentationFormat>Widescreen</PresentationFormat>
  <Paragraphs>151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Office Theme</vt:lpstr>
      <vt:lpstr>Implementing Multi-Party Computation from Quantum Oblivious Transfers</vt:lpstr>
      <vt:lpstr>Multiparty Computation (MPC)</vt:lpstr>
      <vt:lpstr>Oblivious Transfer (OT)</vt:lpstr>
      <vt:lpstr>Oblivious Transfer (OT)</vt:lpstr>
      <vt:lpstr>Oblivious Transfer (OT)</vt:lpstr>
      <vt:lpstr>Quantum Cryptography</vt:lpstr>
      <vt:lpstr>Quantum Cryptography</vt:lpstr>
      <vt:lpstr>Quantum Cryptography</vt:lpstr>
      <vt:lpstr>Quantum Oblivious Transfer (QOT)</vt:lpstr>
      <vt:lpstr>Quantum Oblivious Transfer (QOT)</vt:lpstr>
      <vt:lpstr>Quantum Oblivious Transfer (QOT)</vt:lpstr>
      <vt:lpstr>Quantum Oblivious Transfer (QOT)</vt:lpstr>
      <vt:lpstr>Quantum Oblivious Transfer (QOT)</vt:lpstr>
      <vt:lpstr>QOT Optimal Configuration  – Error correction</vt:lpstr>
      <vt:lpstr>QOT – Performance</vt:lpstr>
      <vt:lpstr>QOT – Performance</vt:lpstr>
      <vt:lpstr>QOT – Error Bound</vt:lpstr>
      <vt:lpstr>QOT – Variants Performance</vt:lpstr>
      <vt:lpstr>Main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van Wijk</dc:creator>
  <cp:lastModifiedBy>Dave van Wijk</cp:lastModifiedBy>
  <cp:revision>1</cp:revision>
  <dcterms:created xsi:type="dcterms:W3CDTF">2026-06-20T13:26:29Z</dcterms:created>
  <dcterms:modified xsi:type="dcterms:W3CDTF">2026-06-22T12:22:22Z</dcterms:modified>
</cp:coreProperties>
</file>